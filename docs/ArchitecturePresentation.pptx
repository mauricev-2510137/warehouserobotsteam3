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g1dsgbcLT4HlvZZ7hTj3xuzfN7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0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dia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/>
          <p:nvPr/>
        </p:nvSpPr>
        <p:spPr>
          <a:xfrm>
            <a:off x="7924800" y="3200400"/>
            <a:ext cx="8382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3200400" y="152400"/>
            <a:ext cx="990600" cy="45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1"/>
          <p:cNvSpPr/>
          <p:nvPr/>
        </p:nvSpPr>
        <p:spPr>
          <a:xfrm>
            <a:off x="1619250" y="22225"/>
            <a:ext cx="838200" cy="83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1"/>
          <p:cNvSpPr txBox="1">
            <a:spLocks noGrp="1"/>
          </p:cNvSpPr>
          <p:nvPr>
            <p:ph type="ctrTitle"/>
          </p:nvPr>
        </p:nvSpPr>
        <p:spPr>
          <a:xfrm>
            <a:off x="381253" y="342338"/>
            <a:ext cx="8439220" cy="285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solidFill>
                  <a:srgbClr val="E73B2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ubTitle" idx="1"/>
          </p:nvPr>
        </p:nvSpPr>
        <p:spPr>
          <a:xfrm>
            <a:off x="381253" y="3217444"/>
            <a:ext cx="8439220" cy="2731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400"/>
              </a:spcBef>
              <a:spcAft>
                <a:spcPts val="0"/>
              </a:spcAft>
              <a:buClr>
                <a:srgbClr val="164073"/>
              </a:buClr>
              <a:buSzPts val="2000"/>
              <a:buNone/>
              <a:defRPr sz="20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6178686"/>
            <a:ext cx="9150350" cy="104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6206" y="-14703"/>
            <a:ext cx="9248168" cy="127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7996" y="6354030"/>
            <a:ext cx="5212477" cy="423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/>
          <p:nvPr/>
        </p:nvSpPr>
        <p:spPr>
          <a:xfrm>
            <a:off x="-6350" y="-1840"/>
            <a:ext cx="9150350" cy="57678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2"/>
          <p:cNvSpPr txBox="1">
            <a:spLocks noGrp="1"/>
          </p:cNvSpPr>
          <p:nvPr>
            <p:ph type="body" idx="1"/>
          </p:nvPr>
        </p:nvSpPr>
        <p:spPr>
          <a:xfrm>
            <a:off x="118250" y="673632"/>
            <a:ext cx="8568550" cy="5452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164073"/>
              </a:buClr>
              <a:buSzPts val="2000"/>
              <a:buFont typeface="Noto Sans Symbols"/>
              <a:buChar char="▪"/>
              <a:defRPr sz="20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164073"/>
              </a:buClr>
              <a:buSzPts val="1800"/>
              <a:buFont typeface="Noto Sans Symbols"/>
              <a:buChar char="▪"/>
              <a:defRPr sz="18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rgbClr val="164073"/>
              </a:buClr>
              <a:buSzPts val="1600"/>
              <a:buFont typeface="Noto Sans Symbols"/>
              <a:buChar char="▪"/>
              <a:defRPr sz="16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title"/>
          </p:nvPr>
        </p:nvSpPr>
        <p:spPr>
          <a:xfrm>
            <a:off x="118250" y="44624"/>
            <a:ext cx="8990254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E73B2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457200" y="6381750"/>
            <a:ext cx="18105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2340918" y="63817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5292080" y="6383338"/>
            <a:ext cx="7524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  <p:pic>
        <p:nvPicPr>
          <p:cNvPr id="31" name="Google Shape;3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6178686"/>
            <a:ext cx="9150350" cy="104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4413" y="6381749"/>
            <a:ext cx="2571082" cy="36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e objecten">
  <p:cSld name="Twee objecte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body" idx="1"/>
          </p:nvPr>
        </p:nvSpPr>
        <p:spPr>
          <a:xfrm>
            <a:off x="457200" y="980728"/>
            <a:ext cx="4038600" cy="514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164073"/>
              </a:buClr>
              <a:buSzPts val="2000"/>
              <a:buFont typeface="Noto Sans Symbols"/>
              <a:buChar char="▪"/>
              <a:defRPr sz="20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164073"/>
              </a:buClr>
              <a:buSzPts val="1800"/>
              <a:buFont typeface="Noto Sans Symbols"/>
              <a:buChar char="▪"/>
              <a:defRPr sz="18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17500" algn="l">
              <a:spcBef>
                <a:spcPts val="280"/>
              </a:spcBef>
              <a:spcAft>
                <a:spcPts val="0"/>
              </a:spcAft>
              <a:buClr>
                <a:srgbClr val="164073"/>
              </a:buClr>
              <a:buSzPts val="1400"/>
              <a:buFont typeface="Noto Sans Symbols"/>
              <a:buChar char="▪"/>
              <a:defRPr sz="14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2"/>
          </p:nvPr>
        </p:nvSpPr>
        <p:spPr>
          <a:xfrm>
            <a:off x="4648200" y="980728"/>
            <a:ext cx="4038600" cy="514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164073"/>
              </a:buClr>
              <a:buSzPts val="2000"/>
              <a:buFont typeface="Noto Sans Symbols"/>
              <a:buChar char="▪"/>
              <a:defRPr sz="20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164073"/>
              </a:buClr>
              <a:buSzPts val="1800"/>
              <a:buFont typeface="Noto Sans Symbols"/>
              <a:buChar char="▪"/>
              <a:defRPr sz="18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rgbClr val="164073"/>
              </a:buClr>
              <a:buSzPts val="1600"/>
              <a:buFont typeface="Noto Sans Symbols"/>
              <a:buChar char="▪"/>
              <a:defRPr sz="16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dt" idx="10"/>
          </p:nvPr>
        </p:nvSpPr>
        <p:spPr>
          <a:xfrm>
            <a:off x="457200" y="6381750"/>
            <a:ext cx="18105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ftr" idx="11"/>
          </p:nvPr>
        </p:nvSpPr>
        <p:spPr>
          <a:xfrm>
            <a:off x="2340918" y="63817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sldNum" idx="12"/>
          </p:nvPr>
        </p:nvSpPr>
        <p:spPr>
          <a:xfrm>
            <a:off x="5292080" y="6383338"/>
            <a:ext cx="7524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  <p:sp>
        <p:nvSpPr>
          <p:cNvPr id="39" name="Google Shape;39;p13"/>
          <p:cNvSpPr/>
          <p:nvPr/>
        </p:nvSpPr>
        <p:spPr>
          <a:xfrm>
            <a:off x="-6350" y="-1840"/>
            <a:ext cx="9150350" cy="57678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3"/>
          <p:cNvSpPr txBox="1">
            <a:spLocks noGrp="1"/>
          </p:cNvSpPr>
          <p:nvPr>
            <p:ph type="title"/>
          </p:nvPr>
        </p:nvSpPr>
        <p:spPr>
          <a:xfrm>
            <a:off x="118250" y="44624"/>
            <a:ext cx="8990254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E73B2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1" name="Google Shape;4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6178686"/>
            <a:ext cx="9150350" cy="104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4413" y="6381749"/>
            <a:ext cx="2571082" cy="36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/>
          <p:nvPr/>
        </p:nvSpPr>
        <p:spPr>
          <a:xfrm>
            <a:off x="-6350" y="-1840"/>
            <a:ext cx="9150350" cy="57678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1"/>
          </p:nvPr>
        </p:nvSpPr>
        <p:spPr>
          <a:xfrm>
            <a:off x="118250" y="673632"/>
            <a:ext cx="8568550" cy="5452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164073"/>
              </a:buClr>
              <a:buSzPts val="2000"/>
              <a:buFont typeface="Noto Sans Symbols"/>
              <a:buChar char="▪"/>
              <a:defRPr sz="20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164073"/>
              </a:buClr>
              <a:buSzPts val="1800"/>
              <a:buFont typeface="Noto Sans Symbols"/>
              <a:buChar char="▪"/>
              <a:defRPr sz="18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rgbClr val="164073"/>
              </a:buClr>
              <a:buSzPts val="1600"/>
              <a:buFont typeface="Noto Sans Symbols"/>
              <a:buChar char="▪"/>
              <a:defRPr sz="16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118250" y="44624"/>
            <a:ext cx="8990254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E73B2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457200" y="6381750"/>
            <a:ext cx="18105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2340918" y="63817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5292080" y="6383338"/>
            <a:ext cx="7524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  <p:pic>
        <p:nvPicPr>
          <p:cNvPr id="50" name="Google Shape;50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6178686"/>
            <a:ext cx="9150350" cy="104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4413" y="6381749"/>
            <a:ext cx="2571082" cy="36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ee objecten">
  <p:cSld name="1_Twee objecte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body" idx="1"/>
          </p:nvPr>
        </p:nvSpPr>
        <p:spPr>
          <a:xfrm>
            <a:off x="457200" y="980728"/>
            <a:ext cx="4038600" cy="514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164073"/>
              </a:buClr>
              <a:buSzPts val="2000"/>
              <a:buFont typeface="Noto Sans Symbols"/>
              <a:buChar char="▪"/>
              <a:defRPr sz="20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164073"/>
              </a:buClr>
              <a:buSzPts val="1800"/>
              <a:buFont typeface="Noto Sans Symbols"/>
              <a:buChar char="▪"/>
              <a:defRPr sz="18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rgbClr val="164073"/>
              </a:buClr>
              <a:buSzPts val="1600"/>
              <a:buFont typeface="Noto Sans Symbols"/>
              <a:buChar char="▪"/>
              <a:defRPr sz="16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body" idx="2"/>
          </p:nvPr>
        </p:nvSpPr>
        <p:spPr>
          <a:xfrm>
            <a:off x="4648200" y="980728"/>
            <a:ext cx="4038600" cy="5145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164073"/>
              </a:buClr>
              <a:buSzPts val="2000"/>
              <a:buFont typeface="Noto Sans Symbols"/>
              <a:buChar char="▪"/>
              <a:defRPr sz="20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rgbClr val="164073"/>
              </a:buClr>
              <a:buSzPts val="1600"/>
              <a:buFont typeface="Noto Sans Symbols"/>
              <a:buChar char="▪"/>
              <a:defRPr sz="16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17500" algn="l">
              <a:spcBef>
                <a:spcPts val="280"/>
              </a:spcBef>
              <a:spcAft>
                <a:spcPts val="0"/>
              </a:spcAft>
              <a:buClr>
                <a:srgbClr val="164073"/>
              </a:buClr>
              <a:buSzPts val="1400"/>
              <a:buFont typeface="Noto Sans Symbols"/>
              <a:buChar char="▪"/>
              <a:defRPr sz="14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457200" y="6381750"/>
            <a:ext cx="18105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2340918" y="63817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5292080" y="6383338"/>
            <a:ext cx="7524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-6350" y="-1840"/>
            <a:ext cx="9150350" cy="57678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18250" y="44624"/>
            <a:ext cx="8990254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E73B2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6178686"/>
            <a:ext cx="9150350" cy="104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4413" y="6381749"/>
            <a:ext cx="2571082" cy="36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-6350" y="0"/>
            <a:ext cx="9150350" cy="11247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118250" y="1340768"/>
            <a:ext cx="8568550" cy="4785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164073"/>
              </a:buClr>
              <a:buSzPts val="2000"/>
              <a:buFont typeface="Noto Sans Symbols"/>
              <a:buChar char="▪"/>
              <a:defRPr sz="20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164073"/>
              </a:buClr>
              <a:buSzPts val="1800"/>
              <a:buFont typeface="Noto Sans Symbols"/>
              <a:buChar char="▪"/>
              <a:defRPr sz="18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rgbClr val="164073"/>
              </a:buClr>
              <a:buSzPts val="1600"/>
              <a:buFont typeface="Noto Sans Symbols"/>
              <a:buChar char="▪"/>
              <a:defRPr sz="16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118250" y="44624"/>
            <a:ext cx="8990254" cy="100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E73B2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dt" idx="10"/>
          </p:nvPr>
        </p:nvSpPr>
        <p:spPr>
          <a:xfrm>
            <a:off x="457200" y="6381750"/>
            <a:ext cx="18105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ftr" idx="11"/>
          </p:nvPr>
        </p:nvSpPr>
        <p:spPr>
          <a:xfrm>
            <a:off x="2340918" y="63817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5292080" y="6383338"/>
            <a:ext cx="7524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  <p:pic>
        <p:nvPicPr>
          <p:cNvPr id="69" name="Google Shape;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6178686"/>
            <a:ext cx="9150350" cy="104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4413" y="6381749"/>
            <a:ext cx="2571082" cy="36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ee objecten">
  <p:cSld name="2_Twee objecte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457200" y="1268760"/>
            <a:ext cx="4038600" cy="485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164073"/>
              </a:buClr>
              <a:buSzPts val="2000"/>
              <a:buFont typeface="Noto Sans Symbols"/>
              <a:buChar char="▪"/>
              <a:defRPr sz="20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164073"/>
              </a:buClr>
              <a:buSzPts val="1800"/>
              <a:buFont typeface="Noto Sans Symbols"/>
              <a:buChar char="▪"/>
              <a:defRPr sz="18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17500" algn="l">
              <a:spcBef>
                <a:spcPts val="280"/>
              </a:spcBef>
              <a:spcAft>
                <a:spcPts val="0"/>
              </a:spcAft>
              <a:buClr>
                <a:srgbClr val="164073"/>
              </a:buClr>
              <a:buSzPts val="1400"/>
              <a:buFont typeface="Noto Sans Symbols"/>
              <a:buChar char="▪"/>
              <a:defRPr sz="14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2"/>
          </p:nvPr>
        </p:nvSpPr>
        <p:spPr>
          <a:xfrm>
            <a:off x="4648200" y="1268760"/>
            <a:ext cx="4038600" cy="485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164073"/>
              </a:buClr>
              <a:buSzPts val="2000"/>
              <a:buFont typeface="Noto Sans Symbols"/>
              <a:buChar char="▪"/>
              <a:defRPr sz="20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164073"/>
              </a:buClr>
              <a:buSzPts val="1800"/>
              <a:buFont typeface="Noto Sans Symbols"/>
              <a:buChar char="▪"/>
              <a:defRPr sz="18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rgbClr val="164073"/>
              </a:buClr>
              <a:buSzPts val="1600"/>
              <a:buFont typeface="Noto Sans Symbols"/>
              <a:buChar char="▪"/>
              <a:defRPr sz="16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dt" idx="10"/>
          </p:nvPr>
        </p:nvSpPr>
        <p:spPr>
          <a:xfrm>
            <a:off x="457200" y="6381750"/>
            <a:ext cx="18105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ftr" idx="11"/>
          </p:nvPr>
        </p:nvSpPr>
        <p:spPr>
          <a:xfrm>
            <a:off x="2340918" y="63817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ldNum" idx="12"/>
          </p:nvPr>
        </p:nvSpPr>
        <p:spPr>
          <a:xfrm>
            <a:off x="5292080" y="6383338"/>
            <a:ext cx="7524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6178686"/>
            <a:ext cx="9150350" cy="104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4413" y="6381749"/>
            <a:ext cx="2571082" cy="36512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/>
          <p:nvPr/>
        </p:nvSpPr>
        <p:spPr>
          <a:xfrm>
            <a:off x="-6350" y="0"/>
            <a:ext cx="9150350" cy="11247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118250" y="44624"/>
            <a:ext cx="8990254" cy="100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E73B2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118250" y="1268760"/>
            <a:ext cx="8568550" cy="485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164073"/>
              </a:buClr>
              <a:buSzPts val="2000"/>
              <a:buFont typeface="Noto Sans Symbols"/>
              <a:buChar char="▪"/>
              <a:defRPr sz="20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164073"/>
              </a:buClr>
              <a:buSzPts val="1800"/>
              <a:buFont typeface="Noto Sans Symbols"/>
              <a:buChar char="▪"/>
              <a:defRPr sz="18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rgbClr val="164073"/>
              </a:buClr>
              <a:buSzPts val="1600"/>
              <a:buFont typeface="Noto Sans Symbols"/>
              <a:buChar char="▪"/>
              <a:defRPr sz="16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dt" idx="10"/>
          </p:nvPr>
        </p:nvSpPr>
        <p:spPr>
          <a:xfrm>
            <a:off x="457200" y="6381750"/>
            <a:ext cx="18105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ftr" idx="11"/>
          </p:nvPr>
        </p:nvSpPr>
        <p:spPr>
          <a:xfrm>
            <a:off x="2340918" y="63817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5292080" y="6383338"/>
            <a:ext cx="7524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6178686"/>
            <a:ext cx="9150350" cy="104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4413" y="6381749"/>
            <a:ext cx="2571082" cy="36512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/>
          <p:nvPr/>
        </p:nvSpPr>
        <p:spPr>
          <a:xfrm>
            <a:off x="0" y="0"/>
            <a:ext cx="9150350" cy="11247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118250" y="44624"/>
            <a:ext cx="8990254" cy="100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E73B2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wee objecten">
  <p:cSld name="3_Twee objecte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457200" y="1268760"/>
            <a:ext cx="4038600" cy="485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164073"/>
              </a:buClr>
              <a:buSzPts val="2000"/>
              <a:buFont typeface="Noto Sans Symbols"/>
              <a:buChar char="▪"/>
              <a:defRPr sz="20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164073"/>
              </a:buClr>
              <a:buSzPts val="1800"/>
              <a:buFont typeface="Noto Sans Symbols"/>
              <a:buChar char="▪"/>
              <a:defRPr sz="18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rgbClr val="164073"/>
              </a:buClr>
              <a:buSzPts val="1600"/>
              <a:buFont typeface="Noto Sans Symbols"/>
              <a:buChar char="▪"/>
              <a:defRPr sz="16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2"/>
          </p:nvPr>
        </p:nvSpPr>
        <p:spPr>
          <a:xfrm>
            <a:off x="4648200" y="1268760"/>
            <a:ext cx="4038600" cy="485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spcBef>
                <a:spcPts val="400"/>
              </a:spcBef>
              <a:spcAft>
                <a:spcPts val="0"/>
              </a:spcAft>
              <a:buClr>
                <a:srgbClr val="164073"/>
              </a:buClr>
              <a:buSzPts val="2000"/>
              <a:buFont typeface="Noto Sans Symbols"/>
              <a:buChar char="▪"/>
              <a:defRPr sz="20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rgbClr val="164073"/>
              </a:buClr>
              <a:buSzPts val="1600"/>
              <a:buFont typeface="Noto Sans Symbols"/>
              <a:buChar char="▪"/>
              <a:defRPr sz="16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lvl="2" indent="-317500" algn="l">
              <a:spcBef>
                <a:spcPts val="280"/>
              </a:spcBef>
              <a:spcAft>
                <a:spcPts val="0"/>
              </a:spcAft>
              <a:buClr>
                <a:srgbClr val="164073"/>
              </a:buClr>
              <a:buSzPts val="1400"/>
              <a:buFont typeface="Noto Sans Symbols"/>
              <a:buChar char="▪"/>
              <a:defRPr sz="14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164073"/>
              </a:buClr>
              <a:buSzPts val="1200"/>
              <a:buFont typeface="Noto Sans Symbols"/>
              <a:buChar char="▪"/>
              <a:defRPr sz="1200">
                <a:solidFill>
                  <a:srgbClr val="164073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dt" idx="10"/>
          </p:nvPr>
        </p:nvSpPr>
        <p:spPr>
          <a:xfrm>
            <a:off x="457200" y="6381750"/>
            <a:ext cx="18105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ftr" idx="11"/>
          </p:nvPr>
        </p:nvSpPr>
        <p:spPr>
          <a:xfrm>
            <a:off x="2340918" y="63817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ldNum" idx="12"/>
          </p:nvPr>
        </p:nvSpPr>
        <p:spPr>
          <a:xfrm>
            <a:off x="5292080" y="6383338"/>
            <a:ext cx="7524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6178686"/>
            <a:ext cx="9150350" cy="104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4413" y="6381749"/>
            <a:ext cx="2571082" cy="36512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/>
          <p:nvPr/>
        </p:nvSpPr>
        <p:spPr>
          <a:xfrm>
            <a:off x="-6350" y="0"/>
            <a:ext cx="9150350" cy="11247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118250" y="44624"/>
            <a:ext cx="8990254" cy="100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E73B2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468313" y="115888"/>
            <a:ext cx="8229600" cy="43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457200" y="908050"/>
            <a:ext cx="8229600" cy="5218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Architecture &amp;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t>Warehouse Robots – Team 3</a:t>
            </a:r>
          </a:p>
          <a:p>
            <a:endParaRPr/>
          </a:p>
          <a:p>
            <a:r>
              <a:t>Groep 3:</a:t>
            </a:r>
          </a:p>
          <a:p>
            <a:r>
              <a:t>Jelle Claes</a:t>
            </a:r>
          </a:p>
          <a:p>
            <a:r>
              <a:t>Nesim Dauwen</a:t>
            </a:r>
          </a:p>
          <a:p>
            <a:r>
              <a:t>Maurice Vandenheede</a:t>
            </a:r>
          </a:p>
          <a:p>
            <a:endParaRPr/>
          </a:p>
          <a:p>
            <a:r>
              <a:t>Software Engineering for Cyber-Physical Systems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System overview</a:t>
            </a:r>
          </a:p>
          <a:p>
            <a:r>
              <a:t>Robot architecture</a:t>
            </a:r>
          </a:p>
          <a:p>
            <a:pPr lvl="1"/>
            <a:r>
              <a:t>State machine</a:t>
            </a:r>
          </a:p>
          <a:p>
            <a:pPr lvl="1"/>
            <a:r>
              <a:t>Navigation &amp; collision avoidance</a:t>
            </a:r>
          </a:p>
          <a:p>
            <a:pPr lvl="1"/>
            <a:r>
              <a:t>Hardware abstraction layer</a:t>
            </a:r>
          </a:p>
          <a:p>
            <a:r>
              <a:t>Server architecture</a:t>
            </a:r>
          </a:p>
          <a:p>
            <a:pPr lvl="1"/>
            <a:r>
              <a:t>Task dispatch &amp; aisle management</a:t>
            </a:r>
          </a:p>
          <a:p>
            <a:r>
              <a:t>Communication  (MQTT / REST / WebSocket)</a:t>
            </a:r>
          </a:p>
          <a:p>
            <a:r>
              <a:t>Key design choices</a:t>
            </a:r>
          </a:p>
          <a:p>
            <a:r>
              <a:t>Formal specifications  (TLA+)</a:t>
            </a:r>
          </a:p>
          <a:p>
            <a:r>
              <a:t>Conclusion &amp; demo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996BA9E-5738-4E50-B255-AF2B2F189E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mtClean="0"/>
              <a:t>2</a:t>
            </a:fld>
            <a:endParaRPr lang="nl-B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Three independent tiers communicating over well-defined protocols</a:t>
            </a:r>
          </a:p>
          <a:p>
            <a:r>
              <a:rPr b="1" dirty="0"/>
              <a:t>Robot tier  (</a:t>
            </a:r>
            <a:r>
              <a:rPr b="1" dirty="0" err="1"/>
              <a:t>src</a:t>
            </a:r>
            <a:r>
              <a:rPr b="1" dirty="0"/>
              <a:t>/)</a:t>
            </a:r>
          </a:p>
          <a:p>
            <a:pPr lvl="1"/>
            <a:r>
              <a:rPr dirty="0"/>
              <a:t>State machine, navigation, collision avoidance, MQTT</a:t>
            </a:r>
          </a:p>
          <a:p>
            <a:pPr lvl="1"/>
            <a:r>
              <a:rPr dirty="0"/>
              <a:t>Platform-independent via abstract interfaces</a:t>
            </a:r>
            <a:endParaRPr lang="en-GB" dirty="0"/>
          </a:p>
          <a:p>
            <a:pPr lvl="1"/>
            <a:r>
              <a:rPr lang="nl-BE" dirty="0"/>
              <a:t>Event </a:t>
            </a:r>
            <a:r>
              <a:rPr lang="nl-BE" dirty="0" err="1"/>
              <a:t>based</a:t>
            </a:r>
            <a:r>
              <a:rPr lang="nl-BE" dirty="0"/>
              <a:t> system</a:t>
            </a:r>
          </a:p>
          <a:p>
            <a:pPr lvl="1"/>
            <a:r>
              <a:rPr lang="nl-BE" dirty="0" err="1"/>
              <a:t>Scheduler</a:t>
            </a:r>
            <a:endParaRPr dirty="0"/>
          </a:p>
          <a:p>
            <a:r>
              <a:rPr b="1" dirty="0"/>
              <a:t>Server tier  (server/)</a:t>
            </a:r>
          </a:p>
          <a:p>
            <a:pPr lvl="1"/>
            <a:r>
              <a:rPr dirty="0"/>
              <a:t>Task dispatch, aisle management, robot registry</a:t>
            </a:r>
          </a:p>
          <a:p>
            <a:pPr lvl="1"/>
            <a:r>
              <a:rPr dirty="0" err="1"/>
              <a:t>FastAPI</a:t>
            </a:r>
            <a:r>
              <a:rPr dirty="0"/>
              <a:t>  REST API  +  WebSocket  +  MQTT broker</a:t>
            </a:r>
            <a:endParaRPr lang="en-GB" dirty="0"/>
          </a:p>
          <a:p>
            <a:pPr lvl="1"/>
            <a:r>
              <a:rPr lang="nl-BE" dirty="0"/>
              <a:t>Event </a:t>
            </a:r>
            <a:r>
              <a:rPr lang="nl-BE" dirty="0" err="1"/>
              <a:t>based</a:t>
            </a:r>
            <a:r>
              <a:rPr lang="nl-BE" dirty="0"/>
              <a:t> system</a:t>
            </a:r>
            <a:endParaRPr dirty="0"/>
          </a:p>
          <a:p>
            <a:r>
              <a:rPr b="1" dirty="0"/>
              <a:t>Web interface  (webapp/)</a:t>
            </a:r>
          </a:p>
          <a:p>
            <a:pPr lvl="1"/>
            <a:r>
              <a:rPr dirty="0"/>
              <a:t>Real-time monitoring, task queue management via browser</a:t>
            </a:r>
          </a:p>
          <a:p>
            <a:pPr lvl="1"/>
            <a:r>
              <a:rPr dirty="0"/>
              <a:t>Vanilla JS, no build step, WebSocket-driven updates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7432A21-B32D-DEE8-E96B-A92922D492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mtClean="0"/>
              <a:t>3</a:t>
            </a:fld>
            <a:endParaRPr lang="nl-B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8 states, each implementing  </a:t>
            </a:r>
            <a:r>
              <a:rPr dirty="0" err="1"/>
              <a:t>on_enter</a:t>
            </a:r>
            <a:r>
              <a:rPr dirty="0"/>
              <a:t> / </a:t>
            </a:r>
            <a:r>
              <a:rPr dirty="0" err="1"/>
              <a:t>on_exit</a:t>
            </a:r>
            <a:r>
              <a:rPr dirty="0"/>
              <a:t> / update(dt) → </a:t>
            </a:r>
            <a:r>
              <a:rPr dirty="0" err="1"/>
              <a:t>TransitionID</a:t>
            </a:r>
            <a:r>
              <a:rPr dirty="0"/>
              <a:t> / </a:t>
            </a:r>
            <a:r>
              <a:rPr dirty="0" err="1"/>
              <a:t>on_event</a:t>
            </a:r>
            <a:r>
              <a:rPr dirty="0"/>
              <a:t> → None</a:t>
            </a:r>
          </a:p>
          <a:p>
            <a:endParaRPr dirty="0"/>
          </a:p>
          <a:p>
            <a:pPr lvl="1"/>
            <a:r>
              <a:rPr dirty="0"/>
              <a:t>WAIT_CONNECTION  →  connects to MQTT broker</a:t>
            </a:r>
          </a:p>
          <a:p>
            <a:pPr lvl="1"/>
            <a:r>
              <a:rPr dirty="0"/>
              <a:t>IDLE  →  waits for task; requests aisle lock on task receipt</a:t>
            </a:r>
          </a:p>
          <a:p>
            <a:pPr lvl="1"/>
            <a:r>
              <a:rPr dirty="0"/>
              <a:t>WAIT_FOR_AISLE_ACCESS  →  halts; retries until lock granted</a:t>
            </a:r>
          </a:p>
          <a:p>
            <a:pPr lvl="1"/>
            <a:r>
              <a:rPr dirty="0"/>
              <a:t>MOVE_TO_AISLE  →  navigates to aisle entry point</a:t>
            </a:r>
          </a:p>
          <a:p>
            <a:pPr lvl="1"/>
            <a:r>
              <a:rPr dirty="0"/>
              <a:t>MOVE_TO_SEGMENT  →  navigates to shelf location</a:t>
            </a:r>
          </a:p>
          <a:p>
            <a:pPr lvl="1"/>
            <a:r>
              <a:rPr dirty="0"/>
              <a:t>PICK_ITEM  →  stops, waits 5–10 s (simulated pickup)</a:t>
            </a:r>
          </a:p>
          <a:p>
            <a:pPr lvl="1"/>
            <a:r>
              <a:rPr dirty="0"/>
              <a:t>MOVE_BACK_TO_AISLE  →  returns to entry; stops if lock lost (no retry)</a:t>
            </a:r>
          </a:p>
          <a:p>
            <a:pPr lvl="1"/>
            <a:r>
              <a:rPr dirty="0"/>
              <a:t>MOVE_TO_BASE  →  releases lock, publishes DONE, returns to base</a:t>
            </a:r>
          </a:p>
          <a:p>
            <a:endParaRPr dirty="0"/>
          </a:p>
          <a:p>
            <a:r>
              <a:rPr dirty="0"/>
              <a:t>Design choice: single responsibility per state → extensible &amp; testable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Robot Architecture – State Machine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8BBEF1E-DB08-1148-14CE-F048A3F81F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mtClean="0"/>
              <a:t>4</a:t>
            </a:fld>
            <a:endParaRPr lang="nl-B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Proportional navigation  (no PID)</a:t>
            </a:r>
          </a:p>
          <a:p>
            <a:pPr lvl="1"/>
            <a:r>
              <a:t>angular_vel  =  k_angular × angle_error</a:t>
            </a:r>
          </a:p>
          <a:p>
            <a:pPr lvl="1"/>
            <a:r>
              <a:t>linear_vel   =  k_linear  × distance × cos(angle_error)</a:t>
            </a:r>
          </a:p>
          <a:p>
            <a:pPr lvl="1"/>
            <a:r>
              <a:t>Hard stop when |angle_error| &gt; 0.8 rad  →  rotate in place first</a:t>
            </a:r>
          </a:p>
          <a:p>
            <a:pPr lvl="1"/>
            <a:r>
              <a:t>Arrival threshold: 0.02 m</a:t>
            </a:r>
          </a:p>
          <a:p>
            <a:endParaRPr/>
          </a:p>
          <a:p>
            <a:r>
              <a:rPr b="1"/>
              <a:t>LiDAR-based collision avoidance (CollisionManager)</a:t>
            </a:r>
          </a:p>
          <a:p>
            <a:pPr lvl="1"/>
            <a:r>
              <a:t>SAFE:  path is clear  →  full speed</a:t>
            </a:r>
          </a:p>
          <a:p>
            <a:pPr lvl="1"/>
            <a:r>
              <a:t>EVADE: obstacle closing in  →  reduced speed + left-turn bias</a:t>
            </a:r>
          </a:p>
          <a:p>
            <a:pPr lvl="1"/>
            <a:r>
              <a:t>STOP:  obstacle critically close  →  zero velocity + forced evasion window</a:t>
            </a:r>
          </a:p>
          <a:p>
            <a:endParaRPr/>
          </a:p>
          <a:p>
            <a:r>
              <a:t>Closing-rate detection: avoids unnecessary braking on stationary obstacles</a:t>
            </a:r>
          </a:p>
          <a:p>
            <a:pPr lvl="1"/>
            <a:r>
              <a:t>Collision applied per state via robot.collision.apply(linear, angular, dt)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Navigation &amp; Collision Avoidance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D4BEE33-A66D-8A8C-587E-B83E918739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mtClean="0"/>
              <a:t>5</a:t>
            </a:fld>
            <a:endParaRPr lang="nl-B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Dependency Inversion Principle: robot depends on interfaces, not </a:t>
            </a:r>
            <a:r>
              <a:rPr dirty="0" err="1"/>
              <a:t>Webots</a:t>
            </a:r>
            <a:endParaRPr dirty="0"/>
          </a:p>
          <a:p>
            <a:pPr lvl="1"/>
            <a:r>
              <a:rPr dirty="0" err="1"/>
              <a:t>IMotionController</a:t>
            </a:r>
            <a:r>
              <a:rPr dirty="0"/>
              <a:t>  →  move(linear, angular), stop()</a:t>
            </a:r>
          </a:p>
          <a:p>
            <a:pPr lvl="1"/>
            <a:r>
              <a:rPr dirty="0" err="1"/>
              <a:t>ISensorsController</a:t>
            </a:r>
            <a:r>
              <a:rPr dirty="0"/>
              <a:t>  →  </a:t>
            </a:r>
            <a:r>
              <a:rPr dirty="0" err="1"/>
              <a:t>get_scan</a:t>
            </a:r>
            <a:r>
              <a:rPr dirty="0"/>
              <a:t>(), </a:t>
            </a:r>
            <a:r>
              <a:rPr dirty="0" err="1"/>
              <a:t>get_front</a:t>
            </a:r>
            <a:r>
              <a:rPr dirty="0"/>
              <a:t>/left/right/</a:t>
            </a:r>
            <a:r>
              <a:rPr dirty="0" err="1"/>
              <a:t>rear_distance</a:t>
            </a:r>
            <a:r>
              <a:rPr dirty="0"/>
              <a:t>(),</a:t>
            </a:r>
            <a:r>
              <a:rPr lang="en-GB" dirty="0"/>
              <a:t> </a:t>
            </a:r>
            <a:r>
              <a:rPr dirty="0" err="1"/>
              <a:t>get_yaw</a:t>
            </a:r>
            <a:r>
              <a:rPr dirty="0"/>
              <a:t>(), </a:t>
            </a:r>
            <a:r>
              <a:rPr dirty="0" err="1"/>
              <a:t>get_gyro</a:t>
            </a:r>
            <a:r>
              <a:rPr dirty="0"/>
              <a:t>(), </a:t>
            </a:r>
            <a:r>
              <a:rPr dirty="0" err="1"/>
              <a:t>get_accelerometer</a:t>
            </a:r>
            <a:r>
              <a:rPr dirty="0"/>
              <a:t>(), </a:t>
            </a:r>
            <a:r>
              <a:rPr dirty="0" err="1"/>
              <a:t>get_wheel_positions</a:t>
            </a:r>
            <a:r>
              <a:rPr dirty="0"/>
              <a:t>()</a:t>
            </a:r>
          </a:p>
          <a:p>
            <a:r>
              <a:rPr b="1" dirty="0" err="1"/>
              <a:t>WebotsHardware</a:t>
            </a:r>
            <a:r>
              <a:rPr b="1" dirty="0"/>
              <a:t>  →  low-level </a:t>
            </a:r>
            <a:r>
              <a:rPr b="1" dirty="0" err="1"/>
              <a:t>Webots</a:t>
            </a:r>
            <a:r>
              <a:rPr b="1" dirty="0"/>
              <a:t> device layer (motors, LiDAR, compass, IMU)</a:t>
            </a:r>
          </a:p>
          <a:p>
            <a:pPr lvl="1"/>
            <a:r>
              <a:rPr dirty="0" err="1"/>
              <a:t>WebotsMotionController</a:t>
            </a:r>
            <a:r>
              <a:rPr dirty="0"/>
              <a:t> and </a:t>
            </a:r>
            <a:r>
              <a:rPr dirty="0" err="1"/>
              <a:t>WebotsSensorsController</a:t>
            </a:r>
            <a:r>
              <a:rPr dirty="0"/>
              <a:t> both wrap </a:t>
            </a:r>
            <a:r>
              <a:rPr dirty="0" err="1"/>
              <a:t>WebotsHardware</a:t>
            </a:r>
            <a:endParaRPr dirty="0"/>
          </a:p>
          <a:p>
            <a:pPr lvl="1"/>
            <a:r>
              <a:rPr dirty="0" err="1"/>
              <a:t>RobotFactory</a:t>
            </a:r>
            <a:r>
              <a:rPr dirty="0"/>
              <a:t> creates </a:t>
            </a:r>
            <a:r>
              <a:rPr dirty="0" err="1"/>
              <a:t>WebotsHardware</a:t>
            </a:r>
            <a:r>
              <a:rPr dirty="0"/>
              <a:t> and injects it into both controllers</a:t>
            </a:r>
            <a:endParaRPr lang="en-BE" dirty="0"/>
          </a:p>
          <a:p>
            <a:r>
              <a:rPr dirty="0"/>
              <a:t>Replacing </a:t>
            </a:r>
            <a:r>
              <a:rPr dirty="0" err="1"/>
              <a:t>WebotsHardware</a:t>
            </a:r>
            <a:r>
              <a:rPr dirty="0"/>
              <a:t> + both controllers is all that is needed for real hardware</a:t>
            </a:r>
          </a:p>
          <a:p>
            <a:pPr lvl="1"/>
            <a:r>
              <a:rPr dirty="0"/>
              <a:t>Robot core has zero </a:t>
            </a:r>
            <a:r>
              <a:rPr dirty="0" err="1"/>
              <a:t>Webots</a:t>
            </a:r>
            <a:r>
              <a:rPr dirty="0"/>
              <a:t> imports; factory reads robot ID and pose from </a:t>
            </a:r>
            <a:r>
              <a:rPr dirty="0" err="1"/>
              <a:t>customData</a:t>
            </a:r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Abstraction &amp; Platform Independence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0538FB5-8430-E57C-3F9A-BDF097D973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mtClean="0"/>
              <a:t>6</a:t>
            </a:fld>
            <a:endParaRPr lang="nl-B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Task Dispatcher</a:t>
            </a:r>
          </a:p>
          <a:p>
            <a:pPr lvl="1"/>
            <a:r>
              <a:rPr dirty="0"/>
              <a:t>FIFO queue of pending tasks</a:t>
            </a:r>
          </a:p>
          <a:p>
            <a:pPr lvl="1"/>
            <a:r>
              <a:rPr dirty="0"/>
              <a:t>Nearest-idle-robot strategy  →  Euclidean distance to aisle entry</a:t>
            </a:r>
          </a:p>
          <a:p>
            <a:pPr marL="101600" indent="0">
              <a:buNone/>
            </a:pPr>
            <a:endParaRPr dirty="0"/>
          </a:p>
          <a:p>
            <a:r>
              <a:rPr b="1" dirty="0"/>
              <a:t>Aisle Manager  –  Mutual Exclusion</a:t>
            </a:r>
          </a:p>
          <a:p>
            <a:pPr lvl="1"/>
            <a:r>
              <a:rPr dirty="0"/>
              <a:t>Lease-based locking: one robot per aisle at a time</a:t>
            </a:r>
          </a:p>
          <a:p>
            <a:pPr lvl="1"/>
            <a:r>
              <a:rPr dirty="0"/>
              <a:t>Lease expires after 60 s  →  crash recovery without extra protocol</a:t>
            </a:r>
          </a:p>
          <a:p>
            <a:pPr lvl="1"/>
            <a:r>
              <a:rPr dirty="0"/>
              <a:t>On expiry: lock removed + robot notified (granted = false)</a:t>
            </a:r>
          </a:p>
          <a:p>
            <a:endParaRPr dirty="0"/>
          </a:p>
          <a:p>
            <a:r>
              <a:rPr b="1" dirty="0"/>
              <a:t>Robot Registry &amp; Tracker</a:t>
            </a:r>
          </a:p>
          <a:p>
            <a:pPr lvl="1"/>
            <a:r>
              <a:rPr dirty="0"/>
              <a:t>Auto-register on first heartbeat  →  no pre-configuration</a:t>
            </a:r>
          </a:p>
          <a:p>
            <a:pPr lvl="1"/>
            <a:r>
              <a:rPr dirty="0"/>
              <a:t>OFFLINE if no heartbeat for 4 s; OFFLINE state not cleared by heartbeat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Architecture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8B31DDA-BE6F-5635-4BA9-457A069563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mtClean="0"/>
              <a:t>7</a:t>
            </a:fld>
            <a:endParaRPr lang="nl-B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/>
              <a:t>MQTT  (QoS = 1, JSON payloads)</a:t>
            </a:r>
          </a:p>
          <a:p>
            <a:pPr lvl="1"/>
            <a:r>
              <a:t>robot/{id}/heartbeat          Robot → Server  every 0.5 s</a:t>
            </a:r>
          </a:p>
          <a:p>
            <a:pPr lvl="1"/>
            <a:r>
              <a:t>robot/{id}/task/assign        Server → Robot</a:t>
            </a:r>
          </a:p>
          <a:p>
            <a:pPr lvl="1"/>
            <a:r>
              <a:t>robot/{id}/task/status        Robot → Server</a:t>
            </a:r>
          </a:p>
          <a:p>
            <a:pPr lvl="1"/>
            <a:r>
              <a:t>robot/{id}/aisle/response     Server → Robot</a:t>
            </a:r>
          </a:p>
          <a:p>
            <a:pPr lvl="1"/>
            <a:r>
              <a:t>aisle/{id}/request|release    Robot → Server</a:t>
            </a:r>
          </a:p>
          <a:p>
            <a:endParaRPr/>
          </a:p>
          <a:p>
            <a:r>
              <a:rPr b="1"/>
              <a:t>REST API  (FastAPI)</a:t>
            </a:r>
          </a:p>
          <a:p>
            <a:pPr lvl="1"/>
            <a:r>
              <a:t>POST /api/tasks  →  submit task   |   DELETE  →  cancel PENDING</a:t>
            </a:r>
          </a:p>
          <a:p>
            <a:pPr lvl="1"/>
            <a:r>
              <a:t>GET  /api/robots, /api/tasks, /api/aisles  →  current state</a:t>
            </a:r>
          </a:p>
          <a:p>
            <a:endParaRPr/>
          </a:p>
          <a:p>
            <a:r>
              <a:rPr b="1"/>
              <a:t>WebSocket  /ws</a:t>
            </a:r>
          </a:p>
          <a:p>
            <a:pPr lvl="1"/>
            <a:r>
              <a:t>Server-push: robot_heartbeat, task_status, aisle_request/release</a:t>
            </a:r>
          </a:p>
          <a:p>
            <a:pPr lvl="1"/>
            <a:r>
              <a:t>Eliminates polling; UI updated in real time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Architecture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BF0AD80-7CB8-2009-6774-098074625E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mtClean="0"/>
              <a:t>8</a:t>
            </a:fld>
            <a:endParaRPr lang="nl-B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6F32C-AACB-432D-4E4B-C68317B65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1023CB-840B-3A55-47DC-CB958F7DC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State machine</a:t>
            </a:r>
          </a:p>
          <a:p>
            <a:pPr lvl="1"/>
            <a:r>
              <a:rPr dirty="0"/>
              <a:t>Single responsibility per state; extensible without modifying existing states</a:t>
            </a:r>
          </a:p>
          <a:p>
            <a:r>
              <a:rPr b="1" dirty="0"/>
              <a:t>Abstract interfaces + factory  (DIP)</a:t>
            </a:r>
          </a:p>
          <a:p>
            <a:pPr lvl="1"/>
            <a:r>
              <a:rPr dirty="0"/>
              <a:t>Robot core has zero </a:t>
            </a:r>
            <a:r>
              <a:rPr dirty="0" err="1"/>
              <a:t>Webots</a:t>
            </a:r>
            <a:r>
              <a:rPr dirty="0"/>
              <a:t> imports; swap hardware layer for real hardware</a:t>
            </a:r>
          </a:p>
          <a:p>
            <a:r>
              <a:rPr b="1" dirty="0"/>
              <a:t>MQTT pub-sub</a:t>
            </a:r>
          </a:p>
          <a:p>
            <a:pPr lvl="1"/>
            <a:r>
              <a:rPr dirty="0"/>
              <a:t>QoS=1 handles </a:t>
            </a:r>
            <a:r>
              <a:rPr dirty="0" err="1"/>
              <a:t>WiFi</a:t>
            </a:r>
            <a:r>
              <a:rPr dirty="0"/>
              <a:t> dead spots; wildcard topics scale to N robots</a:t>
            </a:r>
          </a:p>
          <a:p>
            <a:r>
              <a:rPr b="1" dirty="0"/>
              <a:t>Lease-based aisle locking</a:t>
            </a:r>
          </a:p>
          <a:p>
            <a:pPr lvl="1"/>
            <a:r>
              <a:rPr dirty="0"/>
              <a:t>Simple crash recovery; no extra heartbeat or acknowledgment needed</a:t>
            </a:r>
          </a:p>
          <a:p>
            <a:r>
              <a:rPr b="1" dirty="0"/>
              <a:t>Closing-rate collision detection</a:t>
            </a:r>
          </a:p>
          <a:p>
            <a:pPr lvl="1"/>
            <a:r>
              <a:rPr dirty="0"/>
              <a:t>Distinguishes moving from stationary obstacles; avoids unnecessary braking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0D7B6E-7641-B070-E6DB-AA8A08DB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Design Choices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B36FD31-EC16-6D19-358C-E0C65769C1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881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Thread-safe EventQueue</a:t>
            </a:r>
          </a:p>
          <a:p>
            <a:pPr lvl="1"/>
            <a:r>
              <a:rPr dirty="0"/>
              <a:t>Keeps state machine single-threaded; only shared structure with MQTT thread</a:t>
            </a:r>
          </a:p>
          <a:p>
            <a:r>
              <a:rPr b="1" dirty="0"/>
              <a:t>Nearest-idle-robot dispatch</a:t>
            </a:r>
          </a:p>
          <a:p>
            <a:pPr lvl="1"/>
            <a:r>
              <a:rPr dirty="0"/>
              <a:t>O(n) simplicity; encapsulated in one method; trivially replaceable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Design Choices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5F40D22-176A-0EBF-7782-96410F5888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mtClean="0"/>
              <a:t>10</a:t>
            </a:fld>
            <a:endParaRPr lang="nl-B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TLA+ modules capture the key safety and liveness properties</a:t>
            </a:r>
          </a:p>
          <a:p>
            <a:endParaRPr/>
          </a:p>
          <a:p>
            <a:r>
              <a:rPr b="1"/>
              <a:t>AisleMutualExclusion</a:t>
            </a:r>
          </a:p>
          <a:p>
            <a:pPr lvl="1"/>
            <a:r>
              <a:t>MutualExclusion: at most one robot holds any aisle lock</a:t>
            </a:r>
          </a:p>
          <a:p>
            <a:pPr lvl="1"/>
            <a:r>
              <a:t>ExpireLease: models the 60 s server-side timeout</a:t>
            </a:r>
          </a:p>
          <a:p>
            <a:endParaRPr/>
          </a:p>
          <a:p>
            <a:r>
              <a:rPr b="1"/>
              <a:t>RobotStateMachine</a:t>
            </a:r>
          </a:p>
          <a:p>
            <a:pPr lvl="1"/>
            <a:r>
              <a:t>NeverEnterWithoutLock: robot never navigates in aisle without the lock</a:t>
            </a:r>
          </a:p>
          <a:p>
            <a:pPr lvl="1"/>
            <a:r>
              <a:t>TaskEventuallyDone: every assigned task eventually completes  (liveness)</a:t>
            </a:r>
          </a:p>
          <a:p>
            <a:endParaRPr/>
          </a:p>
          <a:p>
            <a:r>
              <a:rPr b="1"/>
              <a:t>TaskLifecycle</a:t>
            </a:r>
          </a:p>
          <a:p>
            <a:pPr lvl="1"/>
            <a:r>
              <a:t>SingleAssignment: a task is assigned to at most one robot</a:t>
            </a:r>
          </a:p>
          <a:p>
            <a:pPr lvl="1"/>
            <a:r>
              <a:t>NoRollback: DONE and REJECTED are terminal states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Formal Specifications (TLA+)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735353E-A443-BA9B-F817-D83E4BEB09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mtClean="0"/>
              <a:t>11</a:t>
            </a:fld>
            <a:endParaRPr lang="nl-B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Clean three-tier separation: robot, server, web interface</a:t>
            </a:r>
          </a:p>
          <a:p>
            <a:endParaRPr/>
          </a:p>
          <a:p>
            <a:r>
              <a:rPr b="1"/>
              <a:t>Robot code is fully platform-independent</a:t>
            </a:r>
          </a:p>
          <a:p>
            <a:pPr lvl="1"/>
            <a:r>
              <a:t>WebotsHardware + two controllers are the only Webots coupling</a:t>
            </a:r>
          </a:p>
          <a:p>
            <a:endParaRPr/>
          </a:p>
          <a:p>
            <a:r>
              <a:rPr b="1"/>
              <a:t>Lightweight coordination mechanisms on the server</a:t>
            </a:r>
          </a:p>
          <a:p>
            <a:pPr lvl="1"/>
            <a:r>
              <a:t>Lease-based aisle locking handles crashes without extra protocol</a:t>
            </a:r>
          </a:p>
          <a:p>
            <a:pPr lvl="1"/>
            <a:r>
              <a:t>Nearest-robot dispatch is simple, correct, and replaceable</a:t>
            </a:r>
          </a:p>
          <a:p>
            <a:endParaRPr/>
          </a:p>
          <a:p>
            <a:r>
              <a:t>Design deliberately favours simplicity over premature optimisation</a:t>
            </a:r>
          </a:p>
          <a:p>
            <a:pPr lvl="1"/>
            <a:r>
              <a:t>Proportional nav, closing-rate collision, greedy dispatch</a:t>
            </a:r>
          </a:p>
          <a:p>
            <a:pPr lvl="1"/>
            <a:r>
              <a:t>Each choice is behind an interface or a single method</a:t>
            </a:r>
          </a:p>
          <a:p>
            <a:endParaRPr/>
          </a:p>
          <a:p>
            <a:r>
              <a:t>Solid proof-of-concept ready for real-hardware deployment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FFB286E-69AC-AB85-31E1-7C901A49CB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BE" smtClean="0"/>
              <a:t>12</a:t>
            </a:fld>
            <a:endParaRPr lang="nl-B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Demo &amp; 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  <a:p>
            <a:r>
              <a:t>Live demonstration of the Warehouse Robots system</a:t>
            </a:r>
          </a:p>
          <a:p>
            <a:endParaRPr/>
          </a:p>
          <a:p>
            <a:r>
              <a:t>Groep 3: Jelle Claes  |  Nesim Dauwen  |  Maurice Vandenheede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point goIIW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hem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1024</Words>
  <Application>Microsoft Office PowerPoint</Application>
  <PresentationFormat>Diavoorstelling (4:3)</PresentationFormat>
  <Paragraphs>160</Paragraphs>
  <Slides>13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8" baseType="lpstr">
      <vt:lpstr>Arial</vt:lpstr>
      <vt:lpstr>Calibri</vt:lpstr>
      <vt:lpstr>Noto Sans Symbols</vt:lpstr>
      <vt:lpstr>Verdana</vt:lpstr>
      <vt:lpstr>Powerpoint goIIW</vt:lpstr>
      <vt:lpstr>Architecture &amp; Design</vt:lpstr>
      <vt:lpstr>Agenda</vt:lpstr>
      <vt:lpstr>System Overview</vt:lpstr>
      <vt:lpstr>Robot Architecture – State Machine</vt:lpstr>
      <vt:lpstr>Navigation &amp; Collision Avoidance</vt:lpstr>
      <vt:lpstr>Hardware Abstraction &amp; Platform Independence</vt:lpstr>
      <vt:lpstr>Server Architecture</vt:lpstr>
      <vt:lpstr>Communication Architecture</vt:lpstr>
      <vt:lpstr>Key Design Choices</vt:lpstr>
      <vt:lpstr>Key Design Choices</vt:lpstr>
      <vt:lpstr>Formal Specifications (TLA+)</vt:lpstr>
      <vt:lpstr>Conclusion</vt:lpstr>
      <vt:lpstr>Demo &amp;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lambr</dc:creator>
  <cp:lastModifiedBy>Jelle Claes</cp:lastModifiedBy>
  <cp:revision>2</cp:revision>
  <dcterms:created xsi:type="dcterms:W3CDTF">2009-12-01T15:52:26Z</dcterms:created>
  <dcterms:modified xsi:type="dcterms:W3CDTF">2026-04-29T21:30:41Z</dcterms:modified>
</cp:coreProperties>
</file>